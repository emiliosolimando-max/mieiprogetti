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6ce07f68-bbac-e60d-b4a3-656dc9650690}">
          <p14:sldIdLst>
            <p14:sldId id="256"/>
            <p14:sldId id="257"/>
            <p14:sldId id="258"/>
          </p14:sldIdLst>
        </p14:section>
        <p14:section name="Iniziare" id="{30a51abb-bd89-7e29-b949-2ffed5c663a8}">
          <p14:sldIdLst>
            <p14:sldId id="259"/>
            <p14:sldId id="260"/>
            <p14:sldId id="261"/>
          </p14:sldIdLst>
        </p14:section>
        <p14:section name="Progetti" id="{85e1bd39-bea2-3ef2-b991-264a506f78fa}">
          <p14:sldIdLst>
            <p14:sldId id="262"/>
            <p14:sldId id="263"/>
          </p14:sldIdLst>
        </p14:section>
        <p14:section name="Funzionalità" id="{9de3b29f-98a4-9ba3-9222-5fbe73c14d6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hiusura" id="{dcb02160-6c42-6352-fded-a601b8f14e6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Titolo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Sottotitolo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Titolo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Claude Code · Guida semplice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semplice, passo passo, a tutto quello che puoi fare</a:t>
            </a:r>
            <a:endParaRPr lang="en-US" sz="2200" dirty="0"/>
          </a:p>
        </p:txBody>
      </p:sp>
      <p:sp>
        <p:nvSpPr>
          <p:cNvPr id="4" name="cerchio-1"/>
          <p:cNvSpPr/>
          <p:nvPr/>
        </p:nvSpPr>
        <p:spPr>
          <a:xfrm>
            <a:off x="548640" y="914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a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1201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modi di usare Claude</a:t>
            </a:r>
            <a:endParaRPr lang="en-US" sz="3600" dirty="0"/>
          </a:p>
        </p:txBody>
      </p:sp>
      <p:sp>
        <p:nvSpPr>
          <p:cNvPr id="3" name="scheda-3"/>
          <p:cNvSpPr/>
          <p:nvPr/>
        </p:nvSpPr>
        <p:spPr>
          <a:xfrm>
            <a:off x="548640" y="1463040"/>
            <a:ext cx="5364328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cerchio-4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a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6" name="testo-6"/>
          <p:cNvSpPr txBox="1"/>
          <p:nvPr/>
        </p:nvSpPr>
        <p:spPr>
          <a:xfrm>
            <a:off x="1828800" y="1874520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(la chat)</a:t>
            </a:r>
            <a:endParaRPr lang="en-US" sz="2400" dirty="0"/>
          </a:p>
        </p:txBody>
      </p:sp>
      <p:sp>
        <p:nvSpPr>
          <p:cNvPr id="7" name="testo-7"/>
          <p:cNvSpPr txBox="1"/>
          <p:nvPr/>
        </p:nvSpPr>
        <p:spPr>
          <a:xfrm>
            <a:off x="914400" y="278892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L'amico seduto al tavolo con te: parla, spiega, scrive.</a:t>
            </a:r>
            <a:endParaRPr lang="en-US" sz="1600" dirty="0"/>
          </a:p>
        </p:txBody>
      </p:sp>
      <p:sp>
        <p:nvSpPr>
          <p:cNvPr id="8" name="testo-8"/>
          <p:cNvSpPr txBox="1"/>
          <p:nvPr/>
        </p:nvSpPr>
        <p:spPr>
          <a:xfrm>
            <a:off x="914400" y="347472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Domande e spiegazioni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Email, testi e traduzioni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Idee, consigli e riassunti</a:t>
            </a:r>
            <a:endParaRPr lang="en-US" sz="1400" dirty="0"/>
          </a:p>
        </p:txBody>
      </p:sp>
      <p:sp>
        <p:nvSpPr>
          <p:cNvPr id="9" name="regola-9"/>
          <p:cNvSpPr txBox="1"/>
          <p:nvPr/>
        </p:nvSpPr>
        <p:spPr>
          <a:xfrm>
            <a:off x="914400" y="5074920"/>
            <a:ext cx="4632808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Usala quando vuoi una risposta da leggere</a:t>
            </a:r>
            <a:endParaRPr lang="en-US" sz="1600" dirty="0"/>
          </a:p>
        </p:txBody>
      </p:sp>
      <p:sp>
        <p:nvSpPr>
          <p:cNvPr id="10" name="scheda-10"/>
          <p:cNvSpPr/>
          <p:nvPr/>
        </p:nvSpPr>
        <p:spPr>
          <a:xfrm>
            <a:off x="6278728" y="1463040"/>
            <a:ext cx="5364328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11" name="cerchio-11"/>
          <p:cNvSpPr/>
          <p:nvPr/>
        </p:nvSpPr>
        <p:spPr>
          <a:xfrm>
            <a:off x="6644488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a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8" y="2011680"/>
            <a:ext cx="365760" cy="365760"/>
          </a:xfrm>
          <a:prstGeom prst="rect">
            <a:avLst/>
          </a:prstGeom>
        </p:spPr>
      </p:pic>
      <p:sp>
        <p:nvSpPr>
          <p:cNvPr id="13" name="testo-13"/>
          <p:cNvSpPr txBox="1"/>
          <p:nvPr/>
        </p:nvSpPr>
        <p:spPr>
          <a:xfrm>
            <a:off x="7558888" y="1874520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4" name="testo-14"/>
          <p:cNvSpPr txBox="1"/>
          <p:nvPr/>
        </p:nvSpPr>
        <p:spPr>
          <a:xfrm>
            <a:off x="6644488" y="278892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Lo stesso amico, ma con le mani e un computer.</a:t>
            </a:r>
            <a:endParaRPr lang="en-US" sz="1600" dirty="0"/>
          </a:p>
        </p:txBody>
      </p:sp>
      <p:sp>
        <p:nvSpPr>
          <p:cNvPr id="15" name="testo-15"/>
          <p:cNvSpPr txBox="1"/>
          <p:nvPr/>
        </p:nvSpPr>
        <p:spPr>
          <a:xfrm>
            <a:off x="6644488" y="347472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 e modifica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Avvia programmi e controlla che funzionino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Salva tutto su GitHub</a:t>
            </a:r>
            <a:endParaRPr lang="en-US" sz="1400" dirty="0"/>
          </a:p>
        </p:txBody>
      </p:sp>
      <p:sp>
        <p:nvSpPr>
          <p:cNvPr id="16" name="regola-16"/>
          <p:cNvSpPr txBox="1"/>
          <p:nvPr/>
        </p:nvSpPr>
        <p:spPr>
          <a:xfrm>
            <a:off x="6644488" y="5074920"/>
            <a:ext cx="4632808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Usalo quando vuoi un file o una cosa che funziona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puoi aprire Claude Code</a:t>
            </a:r>
            <a:endParaRPr lang="en-US" sz="3600" dirty="0"/>
          </a:p>
        </p:txBody>
      </p:sp>
      <p:sp>
        <p:nvSpPr>
          <p:cNvPr id="3" name="scheda-17"/>
          <p:cNvSpPr/>
          <p:nvPr/>
        </p:nvSpPr>
        <p:spPr>
          <a:xfrm>
            <a:off x="548640" y="1463040"/>
            <a:ext cx="2567864" cy="35661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4" name="cerchio-18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a-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sto-20"/>
          <p:cNvSpPr txBox="1"/>
          <p:nvPr/>
        </p:nvSpPr>
        <p:spPr>
          <a:xfrm>
            <a:off x="868680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Web e app</a:t>
            </a:r>
            <a:endParaRPr lang="en-US" sz="2000" dirty="0"/>
          </a:p>
        </p:txBody>
      </p:sp>
      <p:sp>
        <p:nvSpPr>
          <p:cNvPr id="7" name="testo-21"/>
          <p:cNvSpPr txBox="1"/>
          <p:nvPr/>
        </p:nvSpPr>
        <p:spPr>
          <a:xfrm>
            <a:off x="868680" y="3657600"/>
            <a:ext cx="1927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claude.ai/code dal browser o dal telefono. Lavora su un computer nella nuvola.</a:t>
            </a:r>
            <a:endParaRPr lang="en-US" sz="1600" dirty="0"/>
          </a:p>
        </p:txBody>
      </p:sp>
      <p:sp>
        <p:nvSpPr>
          <p:cNvPr id="8" name="scheda-22"/>
          <p:cNvSpPr/>
          <p:nvPr/>
        </p:nvSpPr>
        <p:spPr>
          <a:xfrm>
            <a:off x="3390824" y="1463040"/>
            <a:ext cx="2567864" cy="35661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9" name="cerchio-23"/>
          <p:cNvSpPr/>
          <p:nvPr/>
        </p:nvSpPr>
        <p:spPr>
          <a:xfrm>
            <a:off x="3710864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a-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74" y="1977390"/>
            <a:ext cx="388620" cy="388620"/>
          </a:xfrm>
          <a:prstGeom prst="rect">
            <a:avLst/>
          </a:prstGeom>
        </p:spPr>
      </p:pic>
      <p:sp>
        <p:nvSpPr>
          <p:cNvPr id="11" name="testo-25"/>
          <p:cNvSpPr txBox="1"/>
          <p:nvPr/>
        </p:nvSpPr>
        <p:spPr>
          <a:xfrm>
            <a:off x="3710864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 desktop</a:t>
            </a:r>
            <a:endParaRPr lang="en-US" sz="2000" dirty="0"/>
          </a:p>
        </p:txBody>
      </p:sp>
      <p:sp>
        <p:nvSpPr>
          <p:cNvPr id="12" name="testo-26"/>
          <p:cNvSpPr txBox="1"/>
          <p:nvPr/>
        </p:nvSpPr>
        <p:spPr>
          <a:xfrm>
            <a:off x="3710864" y="3657600"/>
            <a:ext cx="1927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L'app Claude per Mac e Windows, con il tuo computer a portata di mano.</a:t>
            </a:r>
            <a:endParaRPr lang="en-US" sz="1600" dirty="0"/>
          </a:p>
        </p:txBody>
      </p:sp>
      <p:sp>
        <p:nvSpPr>
          <p:cNvPr id="13" name="scheda-27"/>
          <p:cNvSpPr/>
          <p:nvPr/>
        </p:nvSpPr>
        <p:spPr>
          <a:xfrm>
            <a:off x="6233008" y="1463040"/>
            <a:ext cx="2567864" cy="35661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4" name="cerchio-28"/>
          <p:cNvSpPr/>
          <p:nvPr/>
        </p:nvSpPr>
        <p:spPr>
          <a:xfrm>
            <a:off x="6553048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a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58" y="1977390"/>
            <a:ext cx="388620" cy="388620"/>
          </a:xfrm>
          <a:prstGeom prst="rect">
            <a:avLst/>
          </a:prstGeom>
        </p:spPr>
      </p:pic>
      <p:sp>
        <p:nvSpPr>
          <p:cNvPr id="16" name="testo-30"/>
          <p:cNvSpPr txBox="1"/>
          <p:nvPr/>
        </p:nvSpPr>
        <p:spPr>
          <a:xfrm>
            <a:off x="6553048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Terminale</a:t>
            </a:r>
            <a:endParaRPr lang="en-US" sz="2000" dirty="0"/>
          </a:p>
        </p:txBody>
      </p:sp>
      <p:sp>
        <p:nvSpPr>
          <p:cNvPr id="17" name="testo-31"/>
          <p:cNvSpPr txBox="1"/>
          <p:nvPr/>
        </p:nvSpPr>
        <p:spPr>
          <a:xfrm>
            <a:off x="6553048" y="3657600"/>
            <a:ext cx="1927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 finestra dei comandi: scrivi claude e premi Invio.</a:t>
            </a:r>
            <a:endParaRPr lang="en-US" sz="1600" dirty="0"/>
          </a:p>
        </p:txBody>
      </p:sp>
      <p:sp>
        <p:nvSpPr>
          <p:cNvPr id="18" name="scheda-32"/>
          <p:cNvSpPr/>
          <p:nvPr/>
        </p:nvSpPr>
        <p:spPr>
          <a:xfrm>
            <a:off x="9075191" y="1463040"/>
            <a:ext cx="2567864" cy="35661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9" name="cerchio-33"/>
          <p:cNvSpPr/>
          <p:nvPr/>
        </p:nvSpPr>
        <p:spPr>
          <a:xfrm>
            <a:off x="9395231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a-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541" y="1977390"/>
            <a:ext cx="388620" cy="388620"/>
          </a:xfrm>
          <a:prstGeom prst="rect">
            <a:avLst/>
          </a:prstGeom>
        </p:spPr>
      </p:pic>
      <p:sp>
        <p:nvSpPr>
          <p:cNvPr id="21" name="testo-35"/>
          <p:cNvSpPr txBox="1"/>
          <p:nvPr/>
        </p:nvSpPr>
        <p:spPr>
          <a:xfrm>
            <a:off x="9395231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Editor di codice</a:t>
            </a:r>
            <a:endParaRPr lang="en-US" sz="2000" dirty="0"/>
          </a:p>
        </p:txBody>
      </p:sp>
      <p:sp>
        <p:nvSpPr>
          <p:cNvPr id="22" name="testo-36"/>
          <p:cNvSpPr txBox="1"/>
          <p:nvPr/>
        </p:nvSpPr>
        <p:spPr>
          <a:xfrm>
            <a:off x="9395231" y="3657600"/>
            <a:ext cx="1927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Dentro VS Code e JetBrains, accanto ai tuoi file.</a:t>
            </a:r>
            <a:endParaRPr lang="en-US" sz="1600" dirty="0"/>
          </a:p>
        </p:txBody>
      </p:sp>
      <p:sp>
        <p:nvSpPr>
          <p:cNvPr id="23" name="testo-37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È sempre lo stesso Claude: cambia solo la porta da cui entri.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Si comincia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primo progetto, passo dopo passo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primo progetto in 6 passi</a:t>
            </a:r>
            <a:endParaRPr lang="en-US" sz="3600" dirty="0"/>
          </a:p>
        </p:txBody>
      </p:sp>
      <p:sp>
        <p:nvSpPr>
          <p:cNvPr id="3" name="scheda-38"/>
          <p:cNvSpPr/>
          <p:nvPr/>
        </p:nvSpPr>
        <p:spPr>
          <a:xfrm>
            <a:off x="548640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numero-39"/>
          <p:cNvSpPr txBox="1"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sto-40"/>
          <p:cNvSpPr txBox="1"/>
          <p:nvPr/>
        </p:nvSpPr>
        <p:spPr>
          <a:xfrm>
            <a:off x="1554480" y="17373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Apri claude.ai/code</a:t>
            </a:r>
            <a:endParaRPr lang="en-US" sz="1800" dirty="0"/>
          </a:p>
        </p:txBody>
      </p:sp>
      <p:sp>
        <p:nvSpPr>
          <p:cNvPr id="6" name="testo-41"/>
          <p:cNvSpPr txBox="1"/>
          <p:nvPr/>
        </p:nvSpPr>
        <p:spPr>
          <a:xfrm>
            <a:off x="822960" y="251460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Dal browser o dall'app Claude sul telefono.</a:t>
            </a:r>
            <a:endParaRPr lang="en-US" sz="1500" dirty="0"/>
          </a:p>
        </p:txBody>
      </p:sp>
      <p:sp>
        <p:nvSpPr>
          <p:cNvPr id="7" name="scheda-42"/>
          <p:cNvSpPr/>
          <p:nvPr/>
        </p:nvSpPr>
        <p:spPr>
          <a:xfrm>
            <a:off x="4338218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numero-43"/>
          <p:cNvSpPr txBox="1"/>
          <p:nvPr/>
        </p:nvSpPr>
        <p:spPr>
          <a:xfrm>
            <a:off x="4612538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sto-44"/>
          <p:cNvSpPr txBox="1"/>
          <p:nvPr/>
        </p:nvSpPr>
        <p:spPr>
          <a:xfrm>
            <a:off x="5344058" y="17373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Collega GitHub</a:t>
            </a:r>
            <a:endParaRPr lang="en-US" sz="1800" dirty="0"/>
          </a:p>
        </p:txBody>
      </p:sp>
      <p:sp>
        <p:nvSpPr>
          <p:cNvPr id="10" name="testo-45"/>
          <p:cNvSpPr txBox="1"/>
          <p:nvPr/>
        </p:nvSpPr>
        <p:spPr>
          <a:xfrm>
            <a:off x="4612538" y="251460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È l'armadio online dove si salvano i tuoi progetti.</a:t>
            </a:r>
            <a:endParaRPr lang="en-US" sz="1500" dirty="0"/>
          </a:p>
        </p:txBody>
      </p:sp>
      <p:sp>
        <p:nvSpPr>
          <p:cNvPr id="11" name="scheda-46"/>
          <p:cNvSpPr/>
          <p:nvPr/>
        </p:nvSpPr>
        <p:spPr>
          <a:xfrm>
            <a:off x="8127797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numero-47"/>
          <p:cNvSpPr txBox="1"/>
          <p:nvPr/>
        </p:nvSpPr>
        <p:spPr>
          <a:xfrm>
            <a:off x="8402117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sto-48"/>
          <p:cNvSpPr txBox="1"/>
          <p:nvPr/>
        </p:nvSpPr>
        <p:spPr>
          <a:xfrm>
            <a:off x="9133637" y="17373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Scegli il progetto</a:t>
            </a:r>
            <a:endParaRPr lang="en-US" sz="1800" dirty="0"/>
          </a:p>
        </p:txBody>
      </p:sp>
      <p:sp>
        <p:nvSpPr>
          <p:cNvPr id="14" name="testo-49"/>
          <p:cNvSpPr txBox="1"/>
          <p:nvPr/>
        </p:nvSpPr>
        <p:spPr>
          <a:xfrm>
            <a:off x="8402117" y="251460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Seleziona il repository (per esempio Mieiprogetti).</a:t>
            </a:r>
            <a:endParaRPr lang="en-US" sz="1500" dirty="0"/>
          </a:p>
        </p:txBody>
      </p:sp>
      <p:sp>
        <p:nvSpPr>
          <p:cNvPr id="15" name="scheda-50"/>
          <p:cNvSpPr/>
          <p:nvPr/>
        </p:nvSpPr>
        <p:spPr>
          <a:xfrm>
            <a:off x="548640" y="38404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numero-51"/>
          <p:cNvSpPr txBox="1"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sto-52"/>
          <p:cNvSpPr txBox="1"/>
          <p:nvPr/>
        </p:nvSpPr>
        <p:spPr>
          <a:xfrm>
            <a:off x="1554480" y="4114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Scrivi cosa vuoi</a:t>
            </a:r>
            <a:endParaRPr lang="en-US" sz="1800" dirty="0"/>
          </a:p>
        </p:txBody>
      </p:sp>
      <p:sp>
        <p:nvSpPr>
          <p:cNvPr id="18" name="testo-53"/>
          <p:cNvSpPr txBox="1"/>
          <p:nvPr/>
        </p:nvSpPr>
        <p:spPr>
          <a:xfrm>
            <a:off x="822960" y="48920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 italiano, come parleresti a una persona.</a:t>
            </a:r>
            <a:endParaRPr lang="en-US" sz="1500" dirty="0"/>
          </a:p>
        </p:txBody>
      </p:sp>
      <p:sp>
        <p:nvSpPr>
          <p:cNvPr id="19" name="scheda-54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numero-55"/>
          <p:cNvSpPr txBox="1"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sto-56"/>
          <p:cNvSpPr txBox="1"/>
          <p:nvPr/>
        </p:nvSpPr>
        <p:spPr>
          <a:xfrm>
            <a:off x="5344058" y="4114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Guarda e approva</a:t>
            </a:r>
            <a:endParaRPr lang="en-US" sz="1800" dirty="0"/>
          </a:p>
        </p:txBody>
      </p:sp>
      <p:sp>
        <p:nvSpPr>
          <p:cNvPr id="22" name="testo-57"/>
          <p:cNvSpPr txBox="1"/>
          <p:nvPr/>
        </p:nvSpPr>
        <p:spPr>
          <a:xfrm>
            <a:off x="4612538" y="48920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Claude mostra cosa fa e chiede il permesso per le cose importanti.</a:t>
            </a:r>
            <a:endParaRPr lang="en-US" sz="1500" dirty="0"/>
          </a:p>
        </p:txBody>
      </p:sp>
      <p:sp>
        <p:nvSpPr>
          <p:cNvPr id="23" name="scheda-58"/>
          <p:cNvSpPr/>
          <p:nvPr/>
        </p:nvSpPr>
        <p:spPr>
          <a:xfrm>
            <a:off x="8127797" y="38404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numero-59"/>
          <p:cNvSpPr txBox="1"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sto-60"/>
          <p:cNvSpPr txBox="1"/>
          <p:nvPr/>
        </p:nvSpPr>
        <p:spPr>
          <a:xfrm>
            <a:off x="9133637" y="4114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Ricevi il risultato</a:t>
            </a:r>
            <a:endParaRPr lang="en-US" sz="1800" dirty="0"/>
          </a:p>
        </p:txBody>
      </p:sp>
      <p:sp>
        <p:nvSpPr>
          <p:cNvPr id="26" name="testo-61"/>
          <p:cNvSpPr txBox="1"/>
          <p:nvPr/>
        </p:nvSpPr>
        <p:spPr>
          <a:xfrm>
            <a:off x="8402117" y="48920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File pronti, salvati su GitHub in un ramo dedicato.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chiedere bene</a:t>
            </a:r>
            <a:endParaRPr lang="en-US" sz="3600" dirty="0"/>
          </a:p>
        </p:txBody>
      </p:sp>
      <p:sp>
        <p:nvSpPr>
          <p:cNvPr id="3" name="scheda-62"/>
          <p:cNvSpPr/>
          <p:nvPr/>
        </p:nvSpPr>
        <p:spPr>
          <a:xfrm>
            <a:off x="548640" y="146304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erchio-6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a-6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6" name="testo-65"/>
          <p:cNvSpPr txBox="1"/>
          <p:nvPr/>
        </p:nvSpPr>
        <p:spPr>
          <a:xfrm>
            <a:off x="1554480" y="17373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Richiesta vaga</a:t>
            </a:r>
            <a:endParaRPr lang="en-US" sz="1800" dirty="0"/>
          </a:p>
        </p:txBody>
      </p:sp>
      <p:sp>
        <p:nvSpPr>
          <p:cNvPr id="7" name="testo-66"/>
          <p:cNvSpPr txBox="1"/>
          <p:nvPr/>
        </p:nvSpPr>
        <p:spPr>
          <a:xfrm>
            <a:off x="822960" y="251460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«Fammi un video»</a:t>
            </a:r>
            <a:endParaRPr lang="en-US" sz="2200" dirty="0"/>
          </a:p>
        </p:txBody>
      </p:sp>
      <p:sp>
        <p:nvSpPr>
          <p:cNvPr id="8" name="scheda-67"/>
          <p:cNvSpPr/>
          <p:nvPr/>
        </p:nvSpPr>
        <p:spPr>
          <a:xfrm>
            <a:off x="6278728" y="146304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erchio-68"/>
          <p:cNvSpPr/>
          <p:nvPr/>
        </p:nvSpPr>
        <p:spPr>
          <a:xfrm>
            <a:off x="6553048" y="1737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a-6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874520"/>
            <a:ext cx="274320" cy="274320"/>
          </a:xfrm>
          <a:prstGeom prst="rect">
            <a:avLst/>
          </a:prstGeom>
        </p:spPr>
      </p:pic>
      <p:sp>
        <p:nvSpPr>
          <p:cNvPr id="11" name="testo-70"/>
          <p:cNvSpPr txBox="1"/>
          <p:nvPr/>
        </p:nvSpPr>
        <p:spPr>
          <a:xfrm>
            <a:off x="7284568" y="17373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Richiesta chiara</a:t>
            </a:r>
            <a:endParaRPr lang="en-US" sz="1800" dirty="0"/>
          </a:p>
        </p:txBody>
      </p:sp>
      <p:sp>
        <p:nvSpPr>
          <p:cNvPr id="12" name="testo-71"/>
          <p:cNvSpPr txBox="1"/>
          <p:nvPr/>
        </p:nvSpPr>
        <p:spPr>
          <a:xfrm>
            <a:off x="6553048" y="242316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«Fammi un video verticale per Instagram, 10 secondi, colori blu e oro, con scritto: Pizzeria da Emilio – aperti la domenica»</a:t>
            </a:r>
            <a:endParaRPr lang="en-US" sz="1600" dirty="0"/>
          </a:p>
        </p:txBody>
      </p:sp>
      <p:sp>
        <p:nvSpPr>
          <p:cNvPr id="13" name="cerchio-7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a-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103370"/>
            <a:ext cx="251460" cy="251460"/>
          </a:xfrm>
          <a:prstGeom prst="rect">
            <a:avLst/>
          </a:prstGeom>
        </p:spPr>
      </p:pic>
      <p:sp>
        <p:nvSpPr>
          <p:cNvPr id="15" name="testo-74"/>
          <p:cNvSpPr txBox="1"/>
          <p:nvPr/>
        </p:nvSpPr>
        <p:spPr>
          <a:xfrm>
            <a:off x="1234440" y="397764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Dì scopo e formato</a:t>
            </a:r>
            <a:endParaRPr lang="en-US" sz="1700" dirty="0"/>
          </a:p>
        </p:txBody>
      </p:sp>
      <p:sp>
        <p:nvSpPr>
          <p:cNvPr id="16" name="testo-75"/>
          <p:cNvSpPr txBox="1"/>
          <p:nvPr/>
        </p:nvSpPr>
        <p:spPr>
          <a:xfrm>
            <a:off x="1234440" y="4572000"/>
            <a:ext cx="2829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chi serve, dove lo userai, quanto è lungo.</a:t>
            </a:r>
            <a:endParaRPr lang="en-US" sz="1400" dirty="0"/>
          </a:p>
        </p:txBody>
      </p:sp>
      <p:sp>
        <p:nvSpPr>
          <p:cNvPr id="17" name="cerchio-76"/>
          <p:cNvSpPr/>
          <p:nvPr/>
        </p:nvSpPr>
        <p:spPr>
          <a:xfrm>
            <a:off x="4338218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a-7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48" y="4103370"/>
            <a:ext cx="251460" cy="251460"/>
          </a:xfrm>
          <a:prstGeom prst="rect">
            <a:avLst/>
          </a:prstGeom>
        </p:spPr>
      </p:pic>
      <p:sp>
        <p:nvSpPr>
          <p:cNvPr id="19" name="testo-78"/>
          <p:cNvSpPr txBox="1"/>
          <p:nvPr/>
        </p:nvSpPr>
        <p:spPr>
          <a:xfrm>
            <a:off x="5024018" y="397764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Dai materiale</a:t>
            </a:r>
            <a:endParaRPr lang="en-US" sz="1700" dirty="0"/>
          </a:p>
        </p:txBody>
      </p:sp>
      <p:sp>
        <p:nvSpPr>
          <p:cNvPr id="20" name="testo-79"/>
          <p:cNvSpPr txBox="1"/>
          <p:nvPr/>
        </p:nvSpPr>
        <p:spPr>
          <a:xfrm>
            <a:off x="5024018" y="4572000"/>
            <a:ext cx="2829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Testi, foto, file o un esempio che ti piace.</a:t>
            </a:r>
            <a:endParaRPr lang="en-US" sz="1400" dirty="0"/>
          </a:p>
        </p:txBody>
      </p:sp>
      <p:sp>
        <p:nvSpPr>
          <p:cNvPr id="21" name="cerchio-80"/>
          <p:cNvSpPr/>
          <p:nvPr/>
        </p:nvSpPr>
        <p:spPr>
          <a:xfrm>
            <a:off x="8127797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a-8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527" y="4103370"/>
            <a:ext cx="251460" cy="251460"/>
          </a:xfrm>
          <a:prstGeom prst="rect">
            <a:avLst/>
          </a:prstGeom>
        </p:spPr>
      </p:pic>
      <p:sp>
        <p:nvSpPr>
          <p:cNvPr id="23" name="testo-82"/>
          <p:cNvSpPr txBox="1"/>
          <p:nvPr/>
        </p:nvSpPr>
        <p:spPr>
          <a:xfrm>
            <a:off x="8813597" y="397764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Correggi a piccoli passi</a:t>
            </a:r>
            <a:endParaRPr lang="en-US" sz="1700" dirty="0"/>
          </a:p>
        </p:txBody>
      </p:sp>
      <p:sp>
        <p:nvSpPr>
          <p:cNvPr id="24" name="testo-83"/>
          <p:cNvSpPr txBox="1"/>
          <p:nvPr/>
        </p:nvSpPr>
        <p:spPr>
          <a:xfrm>
            <a:off x="8813597" y="4572000"/>
            <a:ext cx="2829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«Scritta più grande», «togli il rosso».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Cosa puoi creare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di progetti adatti a Claude Code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Progetti che puoi fare</a:t>
            </a:r>
            <a:endParaRPr lang="en-US" sz="3600" dirty="0"/>
          </a:p>
        </p:txBody>
      </p:sp>
      <p:sp>
        <p:nvSpPr>
          <p:cNvPr id="3" name="scheda-84"/>
          <p:cNvSpPr/>
          <p:nvPr/>
        </p:nvSpPr>
        <p:spPr>
          <a:xfrm>
            <a:off x="548640" y="14173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cerchio-85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a-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testo-87"/>
          <p:cNvSpPr txBox="1"/>
          <p:nvPr/>
        </p:nvSpPr>
        <p:spPr>
          <a:xfrm>
            <a:off x="777240" y="23317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Video e animazioni</a:t>
            </a:r>
            <a:endParaRPr lang="en-US" sz="1700" dirty="0"/>
          </a:p>
        </p:txBody>
      </p:sp>
      <p:sp>
        <p:nvSpPr>
          <p:cNvPr id="7" name="testo-88"/>
          <p:cNvSpPr txBox="1"/>
          <p:nvPr/>
        </p:nvSpPr>
        <p:spPr>
          <a:xfrm>
            <a:off x="777240" y="27157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Bande, scritte, intro e video per i social.</a:t>
            </a:r>
            <a:endParaRPr lang="en-US" sz="1400" dirty="0"/>
          </a:p>
        </p:txBody>
      </p:sp>
      <p:sp>
        <p:nvSpPr>
          <p:cNvPr id="8" name="scheda-89"/>
          <p:cNvSpPr/>
          <p:nvPr/>
        </p:nvSpPr>
        <p:spPr>
          <a:xfrm>
            <a:off x="3390824" y="14173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cerchio-90"/>
          <p:cNvSpPr/>
          <p:nvPr/>
        </p:nvSpPr>
        <p:spPr>
          <a:xfrm>
            <a:off x="3619424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a-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84" y="1783080"/>
            <a:ext cx="274320" cy="274320"/>
          </a:xfrm>
          <a:prstGeom prst="rect">
            <a:avLst/>
          </a:prstGeom>
        </p:spPr>
      </p:pic>
      <p:sp>
        <p:nvSpPr>
          <p:cNvPr id="11" name="testo-92"/>
          <p:cNvSpPr txBox="1"/>
          <p:nvPr/>
        </p:nvSpPr>
        <p:spPr>
          <a:xfrm>
            <a:off x="3619424" y="23317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Siti web</a:t>
            </a:r>
            <a:endParaRPr lang="en-US" sz="1700" dirty="0"/>
          </a:p>
        </p:txBody>
      </p:sp>
      <p:sp>
        <p:nvSpPr>
          <p:cNvPr id="12" name="testo-93"/>
          <p:cNvSpPr txBox="1"/>
          <p:nvPr/>
        </p:nvSpPr>
        <p:spPr>
          <a:xfrm>
            <a:off x="3619424" y="27157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Pagine personali, vetrine, portfolio.</a:t>
            </a:r>
            <a:endParaRPr lang="en-US" sz="1400" dirty="0"/>
          </a:p>
        </p:txBody>
      </p:sp>
      <p:sp>
        <p:nvSpPr>
          <p:cNvPr id="13" name="scheda-94"/>
          <p:cNvSpPr/>
          <p:nvPr/>
        </p:nvSpPr>
        <p:spPr>
          <a:xfrm>
            <a:off x="6233008" y="14173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cerchio-95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a-9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1783080"/>
            <a:ext cx="274320" cy="274320"/>
          </a:xfrm>
          <a:prstGeom prst="rect">
            <a:avLst/>
          </a:prstGeom>
        </p:spPr>
      </p:pic>
      <p:sp>
        <p:nvSpPr>
          <p:cNvPr id="16" name="testo-97"/>
          <p:cNvSpPr txBox="1"/>
          <p:nvPr/>
        </p:nvSpPr>
        <p:spPr>
          <a:xfrm>
            <a:off x="6461608" y="23317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 e programmi</a:t>
            </a:r>
            <a:endParaRPr lang="en-US" sz="1700" dirty="0"/>
          </a:p>
        </p:txBody>
      </p:sp>
      <p:sp>
        <p:nvSpPr>
          <p:cNvPr id="17" name="testo-98"/>
          <p:cNvSpPr txBox="1"/>
          <p:nvPr/>
        </p:nvSpPr>
        <p:spPr>
          <a:xfrm>
            <a:off x="6461608" y="27157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Strumenti, giochi, piccoli gestionali.</a:t>
            </a:r>
            <a:endParaRPr lang="en-US" sz="1400" dirty="0"/>
          </a:p>
        </p:txBody>
      </p:sp>
      <p:sp>
        <p:nvSpPr>
          <p:cNvPr id="18" name="scheda-99"/>
          <p:cNvSpPr/>
          <p:nvPr/>
        </p:nvSpPr>
        <p:spPr>
          <a:xfrm>
            <a:off x="9075191" y="14173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cerchio-100"/>
          <p:cNvSpPr/>
          <p:nvPr/>
        </p:nvSpPr>
        <p:spPr>
          <a:xfrm>
            <a:off x="9303791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a-1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951" y="1783080"/>
            <a:ext cx="274320" cy="274320"/>
          </a:xfrm>
          <a:prstGeom prst="rect">
            <a:avLst/>
          </a:prstGeom>
        </p:spPr>
      </p:pic>
      <p:sp>
        <p:nvSpPr>
          <p:cNvPr id="21" name="testo-102"/>
          <p:cNvSpPr txBox="1"/>
          <p:nvPr/>
        </p:nvSpPr>
        <p:spPr>
          <a:xfrm>
            <a:off x="9303791" y="23317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Documenti Office</a:t>
            </a:r>
            <a:endParaRPr lang="en-US" sz="1700" dirty="0"/>
          </a:p>
        </p:txBody>
      </p:sp>
      <p:sp>
        <p:nvSpPr>
          <p:cNvPr id="22" name="testo-103"/>
          <p:cNvSpPr txBox="1"/>
          <p:nvPr/>
        </p:nvSpPr>
        <p:spPr>
          <a:xfrm>
            <a:off x="9303791" y="27157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Word, Excel, PowerPoint e PDF.</a:t>
            </a:r>
            <a:endParaRPr lang="en-US" sz="1400" dirty="0"/>
          </a:p>
        </p:txBody>
      </p:sp>
      <p:sp>
        <p:nvSpPr>
          <p:cNvPr id="23" name="scheda-104"/>
          <p:cNvSpPr/>
          <p:nvPr/>
        </p:nvSpPr>
        <p:spPr>
          <a:xfrm>
            <a:off x="548640" y="39319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cerchio-10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a-1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6" name="testo-107"/>
          <p:cNvSpPr txBox="1"/>
          <p:nvPr/>
        </p:nvSpPr>
        <p:spPr>
          <a:xfrm>
            <a:off x="777240" y="4846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Grafici e dati</a:t>
            </a:r>
            <a:endParaRPr lang="en-US" sz="1700" dirty="0"/>
          </a:p>
        </p:txBody>
      </p:sp>
      <p:sp>
        <p:nvSpPr>
          <p:cNvPr id="27" name="testo-108"/>
          <p:cNvSpPr txBox="1"/>
          <p:nvPr/>
        </p:nvSpPr>
        <p:spPr>
          <a:xfrm>
            <a:off x="777240" y="52303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Analisi di tabelle, report, dashboard.</a:t>
            </a:r>
            <a:endParaRPr lang="en-US" sz="1400" dirty="0"/>
          </a:p>
        </p:txBody>
      </p:sp>
      <p:sp>
        <p:nvSpPr>
          <p:cNvPr id="28" name="scheda-109"/>
          <p:cNvSpPr/>
          <p:nvPr/>
        </p:nvSpPr>
        <p:spPr>
          <a:xfrm>
            <a:off x="3390824" y="39319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cerchio-110"/>
          <p:cNvSpPr/>
          <p:nvPr/>
        </p:nvSpPr>
        <p:spPr>
          <a:xfrm>
            <a:off x="3619424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a-11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584" y="4297680"/>
            <a:ext cx="274320" cy="274320"/>
          </a:xfrm>
          <a:prstGeom prst="rect">
            <a:avLst/>
          </a:prstGeom>
        </p:spPr>
      </p:pic>
      <p:sp>
        <p:nvSpPr>
          <p:cNvPr id="31" name="testo-112"/>
          <p:cNvSpPr txBox="1"/>
          <p:nvPr/>
        </p:nvSpPr>
        <p:spPr>
          <a:xfrm>
            <a:off x="3619424" y="4846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Automazioni</a:t>
            </a:r>
            <a:endParaRPr lang="en-US" sz="1700" dirty="0"/>
          </a:p>
        </p:txBody>
      </p:sp>
      <p:sp>
        <p:nvSpPr>
          <p:cNvPr id="32" name="testo-113"/>
          <p:cNvSpPr txBox="1"/>
          <p:nvPr/>
        </p:nvSpPr>
        <p:spPr>
          <a:xfrm>
            <a:off x="3619424" y="52303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Lavori ripetitivi fatti dal computer.</a:t>
            </a:r>
            <a:endParaRPr lang="en-US" sz="1400" dirty="0"/>
          </a:p>
        </p:txBody>
      </p:sp>
      <p:sp>
        <p:nvSpPr>
          <p:cNvPr id="33" name="scheda-114"/>
          <p:cNvSpPr/>
          <p:nvPr/>
        </p:nvSpPr>
        <p:spPr>
          <a:xfrm>
            <a:off x="6233008" y="39319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4" name="cerchio-115"/>
          <p:cNvSpPr/>
          <p:nvPr/>
        </p:nvSpPr>
        <p:spPr>
          <a:xfrm>
            <a:off x="6461608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a-11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4297680"/>
            <a:ext cx="274320" cy="274320"/>
          </a:xfrm>
          <a:prstGeom prst="rect">
            <a:avLst/>
          </a:prstGeom>
        </p:spPr>
      </p:pic>
      <p:sp>
        <p:nvSpPr>
          <p:cNvPr id="36" name="testo-117"/>
          <p:cNvSpPr txBox="1"/>
          <p:nvPr/>
        </p:nvSpPr>
        <p:spPr>
          <a:xfrm>
            <a:off x="6461608" y="4846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Correggere errori</a:t>
            </a:r>
            <a:endParaRPr lang="en-US" sz="1700" dirty="0"/>
          </a:p>
        </p:txBody>
      </p:sp>
      <p:sp>
        <p:nvSpPr>
          <p:cNvPr id="37" name="testo-118"/>
          <p:cNvSpPr txBox="1"/>
          <p:nvPr/>
        </p:nvSpPr>
        <p:spPr>
          <a:xfrm>
            <a:off x="6461608" y="52303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Trova e ripara i problemi nel codice.</a:t>
            </a:r>
            <a:endParaRPr lang="en-US" sz="1400" dirty="0"/>
          </a:p>
        </p:txBody>
      </p:sp>
      <p:sp>
        <p:nvSpPr>
          <p:cNvPr id="38" name="scheda-119"/>
          <p:cNvSpPr/>
          <p:nvPr/>
        </p:nvSpPr>
        <p:spPr>
          <a:xfrm>
            <a:off x="9075191" y="3931920"/>
            <a:ext cx="256786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39" name="cerchio-120"/>
          <p:cNvSpPr/>
          <p:nvPr/>
        </p:nvSpPr>
        <p:spPr>
          <a:xfrm>
            <a:off x="9303791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a-12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0951" y="4297680"/>
            <a:ext cx="274320" cy="274320"/>
          </a:xfrm>
          <a:prstGeom prst="rect">
            <a:avLst/>
          </a:prstGeom>
        </p:spPr>
      </p:pic>
      <p:sp>
        <p:nvSpPr>
          <p:cNvPr id="41" name="testo-122"/>
          <p:cNvSpPr txBox="1"/>
          <p:nvPr/>
        </p:nvSpPr>
        <p:spPr>
          <a:xfrm>
            <a:off x="9303791" y="4846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Ricerche</a:t>
            </a:r>
            <a:endParaRPr lang="en-US" sz="1700" dirty="0"/>
          </a:p>
        </p:txBody>
      </p:sp>
      <p:sp>
        <p:nvSpPr>
          <p:cNvPr id="42" name="testo-123"/>
          <p:cNvSpPr txBox="1"/>
          <p:nvPr/>
        </p:nvSpPr>
        <p:spPr>
          <a:xfrm>
            <a:off x="9303791" y="5230368"/>
            <a:ext cx="2110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Cerca sul web e ti prepara un riassunto.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Le funzionalità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strumenti, uno alla volta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Permessi: chi decide cosa</a:t>
            </a:r>
            <a:endParaRPr lang="en-US" sz="3600" dirty="0"/>
          </a:p>
        </p:txBody>
      </p:sp>
      <p:sp>
        <p:nvSpPr>
          <p:cNvPr id="3" name="scheda-124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cerchio-125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a-1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esto-127"/>
          <p:cNvSpPr txBox="1"/>
          <p:nvPr/>
        </p:nvSpPr>
        <p:spPr>
          <a:xfrm>
            <a:off x="160020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Normale</a:t>
            </a:r>
            <a:endParaRPr lang="en-US" sz="1800" dirty="0"/>
          </a:p>
        </p:txBody>
      </p:sp>
      <p:sp>
        <p:nvSpPr>
          <p:cNvPr id="7" name="testo-128"/>
          <p:cNvSpPr txBox="1"/>
          <p:nvPr/>
        </p:nvSpPr>
        <p:spPr>
          <a:xfrm>
            <a:off x="4389120" y="1600200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Chiede il permesso prima di ogni azione importante. La più sicura per iniziare.</a:t>
            </a:r>
            <a:endParaRPr lang="en-US" sz="1600" dirty="0"/>
          </a:p>
        </p:txBody>
      </p:sp>
      <p:sp>
        <p:nvSpPr>
          <p:cNvPr id="8" name="scheda-129"/>
          <p:cNvSpPr/>
          <p:nvPr/>
        </p:nvSpPr>
        <p:spPr>
          <a:xfrm>
            <a:off x="548640" y="256032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cerchio-130"/>
          <p:cNvSpPr/>
          <p:nvPr/>
        </p:nvSpPr>
        <p:spPr>
          <a:xfrm>
            <a:off x="77724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a-1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891790"/>
            <a:ext cx="297180" cy="297180"/>
          </a:xfrm>
          <a:prstGeom prst="rect">
            <a:avLst/>
          </a:prstGeom>
        </p:spPr>
      </p:pic>
      <p:sp>
        <p:nvSpPr>
          <p:cNvPr id="11" name="testo-132"/>
          <p:cNvSpPr txBox="1"/>
          <p:nvPr/>
        </p:nvSpPr>
        <p:spPr>
          <a:xfrm>
            <a:off x="16002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Accetta modifiche</a:t>
            </a:r>
            <a:endParaRPr lang="en-US" sz="1800" dirty="0"/>
          </a:p>
        </p:txBody>
      </p:sp>
      <p:sp>
        <p:nvSpPr>
          <p:cNvPr id="12" name="testo-133"/>
          <p:cNvSpPr txBox="1"/>
          <p:nvPr/>
        </p:nvSpPr>
        <p:spPr>
          <a:xfrm>
            <a:off x="4389120" y="2743200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Modifica i file senza chiedere ogni volta, ma chiede per il resto.</a:t>
            </a:r>
            <a:endParaRPr lang="en-US" sz="1600" dirty="0"/>
          </a:p>
        </p:txBody>
      </p:sp>
      <p:sp>
        <p:nvSpPr>
          <p:cNvPr id="13" name="scheda-134"/>
          <p:cNvSpPr/>
          <p:nvPr/>
        </p:nvSpPr>
        <p:spPr>
          <a:xfrm>
            <a:off x="548640" y="370332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4" name="cerchio-135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a-1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16" name="testo-137"/>
          <p:cNvSpPr txBox="1"/>
          <p:nvPr/>
        </p:nvSpPr>
        <p:spPr>
          <a:xfrm>
            <a:off x="16002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Piano (Plan)</a:t>
            </a:r>
            <a:endParaRPr lang="en-US" sz="1800" dirty="0"/>
          </a:p>
        </p:txBody>
      </p:sp>
      <p:sp>
        <p:nvSpPr>
          <p:cNvPr id="17" name="testo-138"/>
          <p:cNvSpPr txBox="1"/>
          <p:nvPr/>
        </p:nvSpPr>
        <p:spPr>
          <a:xfrm>
            <a:off x="4389120" y="3886200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Prima ti mostra il piano di lavoro, tu approvi, poi lo esegue.</a:t>
            </a:r>
            <a:endParaRPr lang="en-US" sz="1600" dirty="0"/>
          </a:p>
        </p:txBody>
      </p:sp>
      <p:sp>
        <p:nvSpPr>
          <p:cNvPr id="18" name="scheda-139"/>
          <p:cNvSpPr/>
          <p:nvPr/>
        </p:nvSpPr>
        <p:spPr>
          <a:xfrm>
            <a:off x="548640" y="484632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cerchio-140"/>
          <p:cNvSpPr/>
          <p:nvPr/>
        </p:nvSpPr>
        <p:spPr>
          <a:xfrm>
            <a:off x="777240" y="5029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a-14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177790"/>
            <a:ext cx="297180" cy="297180"/>
          </a:xfrm>
          <a:prstGeom prst="rect">
            <a:avLst/>
          </a:prstGeom>
        </p:spPr>
      </p:pic>
      <p:sp>
        <p:nvSpPr>
          <p:cNvPr id="21" name="testo-142"/>
          <p:cNvSpPr txBox="1"/>
          <p:nvPr/>
        </p:nvSpPr>
        <p:spPr>
          <a:xfrm>
            <a:off x="1600200" y="5029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Automatica</a:t>
            </a:r>
            <a:endParaRPr lang="en-US" sz="1800" dirty="0"/>
          </a:p>
        </p:txBody>
      </p:sp>
      <p:sp>
        <p:nvSpPr>
          <p:cNvPr id="22" name="testo-143"/>
          <p:cNvSpPr txBox="1"/>
          <p:nvPr/>
        </p:nvSpPr>
        <p:spPr>
          <a:xfrm>
            <a:off x="4389120" y="5029200"/>
            <a:ext cx="6979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Lavora da solo e si ferma solo davanti alle azioni rischiose.</a:t>
            </a:r>
            <a:endParaRPr lang="en-US" sz="1600" dirty="0"/>
          </a:p>
        </p:txBody>
      </p:sp>
      <p:sp>
        <p:nvSpPr>
          <p:cNvPr id="23" name="testo-144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Nel terminale cambi modalità con Maiusc+Tab. Per fermare Claude in qualsiasi momento: Esc o il pulsante Stop.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agenti: aiutanti dell'aiutante</a:t>
            </a:r>
            <a:endParaRPr lang="en-US" sz="3600" dirty="0"/>
          </a:p>
        </p:txBody>
      </p:sp>
      <p:sp>
        <p:nvSpPr>
          <p:cNvPr id="3" name="scheda-145"/>
          <p:cNvSpPr/>
          <p:nvPr/>
        </p:nvSpPr>
        <p:spPr>
          <a:xfrm>
            <a:off x="548640" y="1463040"/>
            <a:ext cx="2567864" cy="32918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4" name="cerchio-146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a-1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sto-148"/>
          <p:cNvSpPr txBox="1"/>
          <p:nvPr/>
        </p:nvSpPr>
        <p:spPr>
          <a:xfrm>
            <a:off x="868680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Explore</a:t>
            </a:r>
            <a:endParaRPr lang="en-US" sz="2000" dirty="0"/>
          </a:p>
        </p:txBody>
      </p:sp>
      <p:sp>
        <p:nvSpPr>
          <p:cNvPr id="7" name="testo-149"/>
          <p:cNvSpPr txBox="1"/>
          <p:nvPr/>
        </p:nvSpPr>
        <p:spPr>
          <a:xfrm>
            <a:off x="868680" y="3657600"/>
            <a:ext cx="1927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Cerca velocemente dove si trova una cosa tra tanti file.</a:t>
            </a:r>
            <a:endParaRPr lang="en-US" sz="1600" dirty="0"/>
          </a:p>
        </p:txBody>
      </p:sp>
      <p:sp>
        <p:nvSpPr>
          <p:cNvPr id="8" name="scheda-150"/>
          <p:cNvSpPr/>
          <p:nvPr/>
        </p:nvSpPr>
        <p:spPr>
          <a:xfrm>
            <a:off x="3390824" y="1463040"/>
            <a:ext cx="2567864" cy="32918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9" name="cerchio-151"/>
          <p:cNvSpPr/>
          <p:nvPr/>
        </p:nvSpPr>
        <p:spPr>
          <a:xfrm>
            <a:off x="3710864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a-1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74" y="1977390"/>
            <a:ext cx="388620" cy="388620"/>
          </a:xfrm>
          <a:prstGeom prst="rect">
            <a:avLst/>
          </a:prstGeom>
        </p:spPr>
      </p:pic>
      <p:sp>
        <p:nvSpPr>
          <p:cNvPr id="11" name="testo-153"/>
          <p:cNvSpPr txBox="1"/>
          <p:nvPr/>
        </p:nvSpPr>
        <p:spPr>
          <a:xfrm>
            <a:off x="3710864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</a:t>
            </a:r>
            <a:endParaRPr lang="en-US" sz="2000" dirty="0"/>
          </a:p>
        </p:txBody>
      </p:sp>
      <p:sp>
        <p:nvSpPr>
          <p:cNvPr id="12" name="testo-154"/>
          <p:cNvSpPr txBox="1"/>
          <p:nvPr/>
        </p:nvSpPr>
        <p:spPr>
          <a:xfrm>
            <a:off x="3710864" y="3657600"/>
            <a:ext cx="1927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Disegna il progetto prima di costruirlo.</a:t>
            </a:r>
            <a:endParaRPr lang="en-US" sz="1600" dirty="0"/>
          </a:p>
        </p:txBody>
      </p:sp>
      <p:sp>
        <p:nvSpPr>
          <p:cNvPr id="13" name="scheda-155"/>
          <p:cNvSpPr/>
          <p:nvPr/>
        </p:nvSpPr>
        <p:spPr>
          <a:xfrm>
            <a:off x="6233008" y="1463040"/>
            <a:ext cx="2567864" cy="32918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4" name="cerchio-156"/>
          <p:cNvSpPr/>
          <p:nvPr/>
        </p:nvSpPr>
        <p:spPr>
          <a:xfrm>
            <a:off x="6553048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a-1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58" y="1977390"/>
            <a:ext cx="388620" cy="388620"/>
          </a:xfrm>
          <a:prstGeom prst="rect">
            <a:avLst/>
          </a:prstGeom>
        </p:spPr>
      </p:pic>
      <p:sp>
        <p:nvSpPr>
          <p:cNvPr id="16" name="testo-158"/>
          <p:cNvSpPr txBox="1"/>
          <p:nvPr/>
        </p:nvSpPr>
        <p:spPr>
          <a:xfrm>
            <a:off x="6553048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Generale</a:t>
            </a:r>
            <a:endParaRPr lang="en-US" sz="2000" dirty="0"/>
          </a:p>
        </p:txBody>
      </p:sp>
      <p:sp>
        <p:nvSpPr>
          <p:cNvPr id="17" name="testo-159"/>
          <p:cNvSpPr txBox="1"/>
          <p:nvPr/>
        </p:nvSpPr>
        <p:spPr>
          <a:xfrm>
            <a:off x="6553048" y="3657600"/>
            <a:ext cx="1927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Fa un lavoro lungo in sottofondo mentre Claude fa altro.</a:t>
            </a:r>
            <a:endParaRPr lang="en-US" sz="1600" dirty="0"/>
          </a:p>
        </p:txBody>
      </p:sp>
      <p:sp>
        <p:nvSpPr>
          <p:cNvPr id="18" name="scheda-160"/>
          <p:cNvSpPr/>
          <p:nvPr/>
        </p:nvSpPr>
        <p:spPr>
          <a:xfrm>
            <a:off x="9075191" y="1463040"/>
            <a:ext cx="2567864" cy="32918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9" name="cerchio-161"/>
          <p:cNvSpPr/>
          <p:nvPr/>
        </p:nvSpPr>
        <p:spPr>
          <a:xfrm>
            <a:off x="9395231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a-16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541" y="1977390"/>
            <a:ext cx="388620" cy="388620"/>
          </a:xfrm>
          <a:prstGeom prst="rect">
            <a:avLst/>
          </a:prstGeom>
        </p:spPr>
      </p:pic>
      <p:sp>
        <p:nvSpPr>
          <p:cNvPr id="21" name="testo-163"/>
          <p:cNvSpPr txBox="1"/>
          <p:nvPr/>
        </p:nvSpPr>
        <p:spPr>
          <a:xfrm>
            <a:off x="9395231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Guida</a:t>
            </a:r>
            <a:endParaRPr lang="en-US" sz="2000" dirty="0"/>
          </a:p>
        </p:txBody>
      </p:sp>
      <p:sp>
        <p:nvSpPr>
          <p:cNvPr id="22" name="testo-164"/>
          <p:cNvSpPr txBox="1"/>
          <p:nvPr/>
        </p:nvSpPr>
        <p:spPr>
          <a:xfrm>
            <a:off x="9395231" y="3657600"/>
            <a:ext cx="1927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Risponde alle domande su come usare Claude Code.</a:t>
            </a:r>
            <a:endParaRPr lang="en-US" sz="1600" dirty="0"/>
          </a:p>
        </p:txBody>
      </p:sp>
      <p:sp>
        <p:nvSpPr>
          <p:cNvPr id="23" name="testo-165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Come si usano: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scrivi «usa un agente per…». Più agenti possono lavorare insieme su parti diverse dello stesso lavoro.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skill: ricette pronte</a:t>
            </a:r>
            <a:endParaRPr lang="en-US" sz="3600" dirty="0"/>
          </a:p>
        </p:txBody>
      </p:sp>
      <p:sp>
        <p:nvSpPr>
          <p:cNvPr id="3" name="scheda-166"/>
          <p:cNvSpPr/>
          <p:nvPr/>
        </p:nvSpPr>
        <p:spPr>
          <a:xfrm>
            <a:off x="548640" y="1417320"/>
            <a:ext cx="536432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4" name="cerchio-167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a-1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85950"/>
            <a:ext cx="297180" cy="297180"/>
          </a:xfrm>
          <a:prstGeom prst="rect">
            <a:avLst/>
          </a:prstGeom>
        </p:spPr>
      </p:pic>
      <p:sp>
        <p:nvSpPr>
          <p:cNvPr id="6" name="testo-169"/>
          <p:cNvSpPr txBox="1"/>
          <p:nvPr/>
        </p:nvSpPr>
        <p:spPr>
          <a:xfrm>
            <a:off x="1645920" y="173736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 i documenti</a:t>
            </a:r>
            <a:endParaRPr lang="en-US" sz="2000" dirty="0"/>
          </a:p>
        </p:txBody>
      </p:sp>
      <p:sp>
        <p:nvSpPr>
          <p:cNvPr id="7" name="testo-170"/>
          <p:cNvSpPr txBox="1"/>
          <p:nvPr/>
        </p:nvSpPr>
        <p:spPr>
          <a:xfrm>
            <a:off x="868680" y="260604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PDF: leggere, unire, compilare moduli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Word e Docs: lettere, contratti, guide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Excel: tabelle, formule, pulizia dati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PowerPoint: presentazioni come questa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Grafici: visualizzazioni chiare</a:t>
            </a:r>
            <a:endParaRPr lang="en-US" sz="1400" dirty="0"/>
          </a:p>
        </p:txBody>
      </p:sp>
      <p:sp>
        <p:nvSpPr>
          <p:cNvPr id="8" name="scheda-171"/>
          <p:cNvSpPr/>
          <p:nvPr/>
        </p:nvSpPr>
        <p:spPr>
          <a:xfrm>
            <a:off x="6278728" y="1417320"/>
            <a:ext cx="536432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cerchio-172"/>
          <p:cNvSpPr/>
          <p:nvPr/>
        </p:nvSpPr>
        <p:spPr>
          <a:xfrm>
            <a:off x="6598768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a-17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58" y="1885950"/>
            <a:ext cx="297180" cy="297180"/>
          </a:xfrm>
          <a:prstGeom prst="rect">
            <a:avLst/>
          </a:prstGeom>
        </p:spPr>
      </p:pic>
      <p:sp>
        <p:nvSpPr>
          <p:cNvPr id="11" name="testo-174"/>
          <p:cNvSpPr txBox="1"/>
          <p:nvPr/>
        </p:nvSpPr>
        <p:spPr>
          <a:xfrm>
            <a:off x="7376008" y="173736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 i progetti</a:t>
            </a:r>
            <a:endParaRPr lang="en-US" sz="2000" dirty="0"/>
          </a:p>
        </p:txBody>
      </p:sp>
      <p:sp>
        <p:nvSpPr>
          <p:cNvPr id="12" name="testo-175"/>
          <p:cNvSpPr txBox="1"/>
          <p:nvPr/>
        </p:nvSpPr>
        <p:spPr>
          <a:xfrm>
            <a:off x="6598768" y="2606040"/>
            <a:ext cx="47242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/code-review: cerca errori nel codice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/security-review: controlla la sicurezza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/simplify: rende il codice più pulito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/init: crea il file CLAUDE.md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/loop: ripete un compito a intervalli</a:t>
            </a:r>
            <a:endParaRPr lang="en-US" sz="1400" dirty="0"/>
          </a:p>
        </p:txBody>
      </p:sp>
      <p:sp>
        <p:nvSpPr>
          <p:cNvPr id="13" name="testo-176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Si richiamano scrivendo / e il nome. Spesso Claude le usa da solo quando servono. Puoi anche creare le tue skill.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Connettori: le porte verso i tuoi servizi</a:t>
            </a:r>
            <a:endParaRPr lang="en-US" sz="3600" dirty="0"/>
          </a:p>
        </p:txBody>
      </p:sp>
      <p:sp>
        <p:nvSpPr>
          <p:cNvPr id="3" name="scheda-177"/>
          <p:cNvSpPr/>
          <p:nvPr/>
        </p:nvSpPr>
        <p:spPr>
          <a:xfrm>
            <a:off x="548640" y="14173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cerchio-178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a-1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testo-180"/>
          <p:cNvSpPr txBox="1"/>
          <p:nvPr/>
        </p:nvSpPr>
        <p:spPr>
          <a:xfrm>
            <a:off x="1554480" y="16916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Gmail</a:t>
            </a:r>
            <a:endParaRPr lang="en-US" sz="1800" dirty="0"/>
          </a:p>
        </p:txBody>
      </p:sp>
      <p:sp>
        <p:nvSpPr>
          <p:cNvPr id="7" name="testo-181"/>
          <p:cNvSpPr txBox="1"/>
          <p:nvPr/>
        </p:nvSpPr>
        <p:spPr>
          <a:xfrm>
            <a:off x="822960" y="23774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Cercare email, leggere, preparare bozze.</a:t>
            </a:r>
            <a:endParaRPr lang="en-US" sz="1500" dirty="0"/>
          </a:p>
        </p:txBody>
      </p:sp>
      <p:sp>
        <p:nvSpPr>
          <p:cNvPr id="8" name="scheda-182"/>
          <p:cNvSpPr/>
          <p:nvPr/>
        </p:nvSpPr>
        <p:spPr>
          <a:xfrm>
            <a:off x="4338218" y="14173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cerchio-183"/>
          <p:cNvSpPr/>
          <p:nvPr/>
        </p:nvSpPr>
        <p:spPr>
          <a:xfrm>
            <a:off x="4612538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a-1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28800"/>
            <a:ext cx="274320" cy="274320"/>
          </a:xfrm>
          <a:prstGeom prst="rect">
            <a:avLst/>
          </a:prstGeom>
        </p:spPr>
      </p:pic>
      <p:sp>
        <p:nvSpPr>
          <p:cNvPr id="11" name="testo-185"/>
          <p:cNvSpPr txBox="1"/>
          <p:nvPr/>
        </p:nvSpPr>
        <p:spPr>
          <a:xfrm>
            <a:off x="5344058" y="16916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Calendar</a:t>
            </a:r>
            <a:endParaRPr lang="en-US" sz="1800" dirty="0"/>
          </a:p>
        </p:txBody>
      </p:sp>
      <p:sp>
        <p:nvSpPr>
          <p:cNvPr id="12" name="testo-186"/>
          <p:cNvSpPr txBox="1"/>
          <p:nvPr/>
        </p:nvSpPr>
        <p:spPr>
          <a:xfrm>
            <a:off x="4612538" y="23774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Vedere impegni, creare eventi, orari liberi.</a:t>
            </a:r>
            <a:endParaRPr lang="en-US" sz="1500" dirty="0"/>
          </a:p>
        </p:txBody>
      </p:sp>
      <p:sp>
        <p:nvSpPr>
          <p:cNvPr id="13" name="scheda-187"/>
          <p:cNvSpPr/>
          <p:nvPr/>
        </p:nvSpPr>
        <p:spPr>
          <a:xfrm>
            <a:off x="8127797" y="14173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cerchio-188"/>
          <p:cNvSpPr/>
          <p:nvPr/>
        </p:nvSpPr>
        <p:spPr>
          <a:xfrm>
            <a:off x="8402117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a-1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28800"/>
            <a:ext cx="274320" cy="274320"/>
          </a:xfrm>
          <a:prstGeom prst="rect">
            <a:avLst/>
          </a:prstGeom>
        </p:spPr>
      </p:pic>
      <p:sp>
        <p:nvSpPr>
          <p:cNvPr id="16" name="testo-190"/>
          <p:cNvSpPr txBox="1"/>
          <p:nvPr/>
        </p:nvSpPr>
        <p:spPr>
          <a:xfrm>
            <a:off x="9133637" y="16916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GitHub</a:t>
            </a:r>
            <a:endParaRPr lang="en-US" sz="1800" dirty="0"/>
          </a:p>
        </p:txBody>
      </p:sp>
      <p:sp>
        <p:nvSpPr>
          <p:cNvPr id="17" name="testo-191"/>
          <p:cNvSpPr txBox="1"/>
          <p:nvPr/>
        </p:nvSpPr>
        <p:spPr>
          <a:xfrm>
            <a:off x="8402117" y="23774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Progetti, pull request e revisioni.</a:t>
            </a:r>
            <a:endParaRPr lang="en-US" sz="1500" dirty="0"/>
          </a:p>
        </p:txBody>
      </p:sp>
      <p:sp>
        <p:nvSpPr>
          <p:cNvPr id="18" name="scheda-192"/>
          <p:cNvSpPr/>
          <p:nvPr/>
        </p:nvSpPr>
        <p:spPr>
          <a:xfrm>
            <a:off x="548640" y="34747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cerchio-193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a-19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86200"/>
            <a:ext cx="274320" cy="274320"/>
          </a:xfrm>
          <a:prstGeom prst="rect">
            <a:avLst/>
          </a:prstGeom>
        </p:spPr>
      </p:pic>
      <p:sp>
        <p:nvSpPr>
          <p:cNvPr id="21" name="testo-195"/>
          <p:cNvSpPr txBox="1"/>
          <p:nvPr/>
        </p:nvSpPr>
        <p:spPr>
          <a:xfrm>
            <a:off x="1554480" y="37490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Base44</a:t>
            </a:r>
            <a:endParaRPr lang="en-US" sz="1800" dirty="0"/>
          </a:p>
        </p:txBody>
      </p:sp>
      <p:sp>
        <p:nvSpPr>
          <p:cNvPr id="22" name="testo-196"/>
          <p:cNvSpPr txBox="1"/>
          <p:nvPr/>
        </p:nvSpPr>
        <p:spPr>
          <a:xfrm>
            <a:off x="822960" y="4434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Creare app complete partendo da una descrizione.</a:t>
            </a:r>
            <a:endParaRPr lang="en-US" sz="1500" dirty="0"/>
          </a:p>
        </p:txBody>
      </p:sp>
      <p:sp>
        <p:nvSpPr>
          <p:cNvPr id="23" name="scheda-197"/>
          <p:cNvSpPr/>
          <p:nvPr/>
        </p:nvSpPr>
        <p:spPr>
          <a:xfrm>
            <a:off x="4338218" y="34747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4" name="cerchio-198"/>
          <p:cNvSpPr/>
          <p:nvPr/>
        </p:nvSpPr>
        <p:spPr>
          <a:xfrm>
            <a:off x="4612538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a-19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3886200"/>
            <a:ext cx="274320" cy="274320"/>
          </a:xfrm>
          <a:prstGeom prst="rect">
            <a:avLst/>
          </a:prstGeom>
        </p:spPr>
      </p:pic>
      <p:sp>
        <p:nvSpPr>
          <p:cNvPr id="26" name="testo-200"/>
          <p:cNvSpPr txBox="1"/>
          <p:nvPr/>
        </p:nvSpPr>
        <p:spPr>
          <a:xfrm>
            <a:off x="5344058" y="37490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Bird</a:t>
            </a:r>
            <a:endParaRPr lang="en-US" sz="1800" dirty="0"/>
          </a:p>
        </p:txBody>
      </p:sp>
      <p:sp>
        <p:nvSpPr>
          <p:cNvPr id="27" name="testo-201"/>
          <p:cNvSpPr txBox="1"/>
          <p:nvPr/>
        </p:nvSpPr>
        <p:spPr>
          <a:xfrm>
            <a:off x="4612538" y="4434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Email, SMS e WhatsApp verso i clienti.</a:t>
            </a:r>
            <a:endParaRPr lang="en-US" sz="1500" dirty="0"/>
          </a:p>
        </p:txBody>
      </p:sp>
      <p:sp>
        <p:nvSpPr>
          <p:cNvPr id="28" name="scheda-202"/>
          <p:cNvSpPr/>
          <p:nvPr/>
        </p:nvSpPr>
        <p:spPr>
          <a:xfrm>
            <a:off x="8127797" y="347472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9" name="cerchio-203"/>
          <p:cNvSpPr/>
          <p:nvPr/>
        </p:nvSpPr>
        <p:spPr>
          <a:xfrm>
            <a:off x="8402117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a-20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3886200"/>
            <a:ext cx="274320" cy="274320"/>
          </a:xfrm>
          <a:prstGeom prst="rect">
            <a:avLst/>
          </a:prstGeom>
        </p:spPr>
      </p:pic>
      <p:sp>
        <p:nvSpPr>
          <p:cNvPr id="31" name="testo-205"/>
          <p:cNvSpPr txBox="1"/>
          <p:nvPr/>
        </p:nvSpPr>
        <p:spPr>
          <a:xfrm>
            <a:off x="9133637" y="374904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Claude Docs</a:t>
            </a:r>
            <a:endParaRPr lang="en-US" sz="1800" dirty="0"/>
          </a:p>
        </p:txBody>
      </p:sp>
      <p:sp>
        <p:nvSpPr>
          <p:cNvPr id="32" name="testo-206"/>
          <p:cNvSpPr txBox="1"/>
          <p:nvPr/>
        </p:nvSpPr>
        <p:spPr>
          <a:xfrm>
            <a:off x="8402117" y="4434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Documenti condivisi da leggere e commentare.</a:t>
            </a:r>
            <a:endParaRPr lang="en-US" sz="1500" dirty="0"/>
          </a:p>
        </p:txBody>
      </p:sp>
      <p:sp>
        <p:nvSpPr>
          <p:cNvPr id="33" name="testo-207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Questi sono quelli collegati al tuo account. Prima di inviare, pubblicare o cancellare, Claude ti chiede conferma.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salvare e condividere il lavoro</a:t>
            </a:r>
            <a:endParaRPr lang="en-US" sz="3600" dirty="0"/>
          </a:p>
        </p:txBody>
      </p:sp>
      <p:sp>
        <p:nvSpPr>
          <p:cNvPr id="3" name="scheda-208"/>
          <p:cNvSpPr/>
          <p:nvPr/>
        </p:nvSpPr>
        <p:spPr>
          <a:xfrm>
            <a:off x="548640" y="173736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numero-209"/>
          <p:cNvSpPr txBox="1"/>
          <p:nvPr/>
        </p:nvSpPr>
        <p:spPr>
          <a:xfrm>
            <a:off x="121158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sto-210"/>
          <p:cNvSpPr txBox="1"/>
          <p:nvPr/>
        </p:nvSpPr>
        <p:spPr>
          <a:xfrm>
            <a:off x="68580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Branch</a:t>
            </a:r>
            <a:endParaRPr lang="en-US" sz="1800" dirty="0"/>
          </a:p>
        </p:txBody>
      </p:sp>
      <p:sp>
        <p:nvSpPr>
          <p:cNvPr id="6" name="testo-211"/>
          <p:cNvSpPr txBox="1"/>
          <p:nvPr/>
        </p:nvSpPr>
        <p:spPr>
          <a:xfrm>
            <a:off x="685800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ramo: la tua copia di lavoro</a:t>
            </a:r>
            <a:endParaRPr lang="en-US" sz="1400" dirty="0"/>
          </a:p>
        </p:txBody>
      </p:sp>
      <p:sp>
        <p:nvSpPr>
          <p:cNvPr id="7" name="freccia-212"/>
          <p:cNvSpPr/>
          <p:nvPr/>
        </p:nvSpPr>
        <p:spPr>
          <a:xfrm>
            <a:off x="2501227" y="265176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scheda-213"/>
          <p:cNvSpPr/>
          <p:nvPr/>
        </p:nvSpPr>
        <p:spPr>
          <a:xfrm>
            <a:off x="2853614" y="173736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9" name="numero-214"/>
          <p:cNvSpPr txBox="1"/>
          <p:nvPr/>
        </p:nvSpPr>
        <p:spPr>
          <a:xfrm>
            <a:off x="3516554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sto-215"/>
          <p:cNvSpPr txBox="1"/>
          <p:nvPr/>
        </p:nvSpPr>
        <p:spPr>
          <a:xfrm>
            <a:off x="2990774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</a:t>
            </a:r>
            <a:endParaRPr lang="en-US" sz="1800" dirty="0"/>
          </a:p>
        </p:txBody>
      </p:sp>
      <p:sp>
        <p:nvSpPr>
          <p:cNvPr id="11" name="testo-216"/>
          <p:cNvSpPr txBox="1"/>
          <p:nvPr/>
        </p:nvSpPr>
        <p:spPr>
          <a:xfrm>
            <a:off x="2990774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Una foto delle modifiche</a:t>
            </a:r>
            <a:endParaRPr lang="en-US" sz="1400" dirty="0"/>
          </a:p>
        </p:txBody>
      </p:sp>
      <p:sp>
        <p:nvSpPr>
          <p:cNvPr id="12" name="freccia-217"/>
          <p:cNvSpPr/>
          <p:nvPr/>
        </p:nvSpPr>
        <p:spPr>
          <a:xfrm>
            <a:off x="4806201" y="265176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scheda-218"/>
          <p:cNvSpPr/>
          <p:nvPr/>
        </p:nvSpPr>
        <p:spPr>
          <a:xfrm>
            <a:off x="5158588" y="173736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4" name="numero-219"/>
          <p:cNvSpPr txBox="1"/>
          <p:nvPr/>
        </p:nvSpPr>
        <p:spPr>
          <a:xfrm>
            <a:off x="5821528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sto-220"/>
          <p:cNvSpPr txBox="1"/>
          <p:nvPr/>
        </p:nvSpPr>
        <p:spPr>
          <a:xfrm>
            <a:off x="5295748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</a:t>
            </a:r>
            <a:endParaRPr lang="en-US" sz="1800" dirty="0"/>
          </a:p>
        </p:txBody>
      </p:sp>
      <p:sp>
        <p:nvSpPr>
          <p:cNvPr id="16" name="testo-221"/>
          <p:cNvSpPr txBox="1"/>
          <p:nvPr/>
        </p:nvSpPr>
        <p:spPr>
          <a:xfrm>
            <a:off x="5295748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Invia la foto su GitHub</a:t>
            </a:r>
            <a:endParaRPr lang="en-US" sz="1400" dirty="0"/>
          </a:p>
        </p:txBody>
      </p:sp>
      <p:sp>
        <p:nvSpPr>
          <p:cNvPr id="17" name="freccia-222"/>
          <p:cNvSpPr/>
          <p:nvPr/>
        </p:nvSpPr>
        <p:spPr>
          <a:xfrm>
            <a:off x="7111175" y="265176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scheda-223"/>
          <p:cNvSpPr/>
          <p:nvPr/>
        </p:nvSpPr>
        <p:spPr>
          <a:xfrm>
            <a:off x="7463561" y="173736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9" name="numero-224"/>
          <p:cNvSpPr txBox="1"/>
          <p:nvPr/>
        </p:nvSpPr>
        <p:spPr>
          <a:xfrm>
            <a:off x="8126501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sto-225"/>
          <p:cNvSpPr txBox="1"/>
          <p:nvPr/>
        </p:nvSpPr>
        <p:spPr>
          <a:xfrm>
            <a:off x="7600721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Pull request</a:t>
            </a:r>
            <a:endParaRPr lang="en-US" sz="1800" dirty="0"/>
          </a:p>
        </p:txBody>
      </p:sp>
      <p:sp>
        <p:nvSpPr>
          <p:cNvPr id="21" name="testo-226"/>
          <p:cNvSpPr txBox="1"/>
          <p:nvPr/>
        </p:nvSpPr>
        <p:spPr>
          <a:xfrm>
            <a:off x="7600721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Proposta da controllare</a:t>
            </a:r>
            <a:endParaRPr lang="en-US" sz="1400" dirty="0"/>
          </a:p>
        </p:txBody>
      </p:sp>
      <p:sp>
        <p:nvSpPr>
          <p:cNvPr id="22" name="freccia-227"/>
          <p:cNvSpPr/>
          <p:nvPr/>
        </p:nvSpPr>
        <p:spPr>
          <a:xfrm>
            <a:off x="9416148" y="2651760"/>
            <a:ext cx="27432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scheda-228"/>
          <p:cNvSpPr/>
          <p:nvPr/>
        </p:nvSpPr>
        <p:spPr>
          <a:xfrm>
            <a:off x="9768535" y="1737360"/>
            <a:ext cx="1874520" cy="21031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4" name="numero-229"/>
          <p:cNvSpPr txBox="1"/>
          <p:nvPr/>
        </p:nvSpPr>
        <p:spPr>
          <a:xfrm>
            <a:off x="10431475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sto-230"/>
          <p:cNvSpPr txBox="1"/>
          <p:nvPr/>
        </p:nvSpPr>
        <p:spPr>
          <a:xfrm>
            <a:off x="9905695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Merge</a:t>
            </a:r>
            <a:endParaRPr lang="en-US" sz="1800" dirty="0"/>
          </a:p>
        </p:txBody>
      </p:sp>
      <p:sp>
        <p:nvSpPr>
          <p:cNvPr id="26" name="testo-231"/>
          <p:cNvSpPr txBox="1"/>
          <p:nvPr/>
        </p:nvSpPr>
        <p:spPr>
          <a:xfrm>
            <a:off x="9905695" y="3108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Unione al progetto principale</a:t>
            </a:r>
            <a:endParaRPr lang="en-US" sz="1400" dirty="0"/>
          </a:p>
        </p:txBody>
      </p:sp>
      <p:sp>
        <p:nvSpPr>
          <p:cNvPr id="27" name="scheda-232"/>
          <p:cNvSpPr/>
          <p:nvPr/>
        </p:nvSpPr>
        <p:spPr>
          <a:xfrm>
            <a:off x="548640" y="4206240"/>
            <a:ext cx="1109441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cerchio-233"/>
          <p:cNvSpPr/>
          <p:nvPr/>
        </p:nvSpPr>
        <p:spPr>
          <a:xfrm>
            <a:off x="868680" y="4526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a-2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709160"/>
            <a:ext cx="365760" cy="365760"/>
          </a:xfrm>
          <a:prstGeom prst="rect">
            <a:avLst/>
          </a:prstGeom>
        </p:spPr>
      </p:pic>
      <p:sp>
        <p:nvSpPr>
          <p:cNvPr id="30" name="testo-235"/>
          <p:cNvSpPr txBox="1"/>
          <p:nvPr/>
        </p:nvSpPr>
        <p:spPr>
          <a:xfrm>
            <a:off x="1874520" y="4434840"/>
            <a:ext cx="9448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Claude può sorvegliare una pull request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 i test falliscono li corregge, risponde ai commenti dei revisori e ti avvisa quando è tutto pronto.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Attività programmate e ripetute</a:t>
            </a:r>
            <a:endParaRPr lang="en-US" sz="3600" dirty="0"/>
          </a:p>
        </p:txBody>
      </p:sp>
      <p:sp>
        <p:nvSpPr>
          <p:cNvPr id="3" name="scheda-236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cerchio-237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a-2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sto-239"/>
          <p:cNvSpPr txBox="1"/>
          <p:nvPr/>
        </p:nvSpPr>
        <p:spPr>
          <a:xfrm>
            <a:off x="868680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Promemoria</a:t>
            </a:r>
            <a:endParaRPr lang="en-US" sz="2000" dirty="0"/>
          </a:p>
        </p:txBody>
      </p:sp>
      <p:sp>
        <p:nvSpPr>
          <p:cNvPr id="7" name="testo-240"/>
          <p:cNvSpPr txBox="1"/>
          <p:nvPr/>
        </p:nvSpPr>
        <p:spPr>
          <a:xfrm>
            <a:off x="868680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«Ricordamelo tra 2 ore»: Claude riprende il lavoro all'ora giusta.</a:t>
            </a:r>
            <a:endParaRPr lang="en-US" sz="1600" dirty="0"/>
          </a:p>
        </p:txBody>
      </p:sp>
      <p:sp>
        <p:nvSpPr>
          <p:cNvPr id="8" name="scheda-241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9" name="cerchio-242"/>
          <p:cNvSpPr/>
          <p:nvPr/>
        </p:nvSpPr>
        <p:spPr>
          <a:xfrm>
            <a:off x="4658258" y="17830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a-2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1977390"/>
            <a:ext cx="388620" cy="388620"/>
          </a:xfrm>
          <a:prstGeom prst="rect">
            <a:avLst/>
          </a:prstGeom>
        </p:spPr>
      </p:pic>
      <p:sp>
        <p:nvSpPr>
          <p:cNvPr id="11" name="testo-244"/>
          <p:cNvSpPr txBox="1"/>
          <p:nvPr/>
        </p:nvSpPr>
        <p:spPr>
          <a:xfrm>
            <a:off x="4658258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Attività programmate</a:t>
            </a:r>
            <a:endParaRPr lang="en-US" sz="2000" dirty="0"/>
          </a:p>
        </p:txBody>
      </p:sp>
      <p:sp>
        <p:nvSpPr>
          <p:cNvPr id="12" name="testo-245"/>
          <p:cNvSpPr txBox="1"/>
          <p:nvPr/>
        </p:nvSpPr>
        <p:spPr>
          <a:xfrm>
            <a:off x="4658258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«Ogni lunedì alle 9 fammi il riassunto delle email».</a:t>
            </a:r>
            <a:endParaRPr lang="en-US" sz="1600" dirty="0"/>
          </a:p>
        </p:txBody>
      </p:sp>
      <p:sp>
        <p:nvSpPr>
          <p:cNvPr id="13" name="scheda-246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4" name="cerchio-247"/>
          <p:cNvSpPr/>
          <p:nvPr/>
        </p:nvSpPr>
        <p:spPr>
          <a:xfrm>
            <a:off x="8447837" y="17830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a-2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147" y="1977390"/>
            <a:ext cx="388620" cy="388620"/>
          </a:xfrm>
          <a:prstGeom prst="rect">
            <a:avLst/>
          </a:prstGeom>
        </p:spPr>
      </p:pic>
      <p:sp>
        <p:nvSpPr>
          <p:cNvPr id="16" name="testo-249"/>
          <p:cNvSpPr txBox="1"/>
          <p:nvPr/>
        </p:nvSpPr>
        <p:spPr>
          <a:xfrm>
            <a:off x="8447837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/loop</a:t>
            </a:r>
            <a:endParaRPr lang="en-US" sz="2000" dirty="0"/>
          </a:p>
        </p:txBody>
      </p:sp>
      <p:sp>
        <p:nvSpPr>
          <p:cNvPr id="17" name="testo-250"/>
          <p:cNvSpPr txBox="1"/>
          <p:nvPr/>
        </p:nvSpPr>
        <p:spPr>
          <a:xfrm>
            <a:off x="8447837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«Controlla ogni 5 minuti se il lavoro è finito».</a:t>
            </a:r>
            <a:endParaRPr lang="en-US" sz="1600" dirty="0"/>
          </a:p>
        </p:txBody>
      </p:sp>
      <p:sp>
        <p:nvSpPr>
          <p:cNvPr id="18" name="testo-251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Funzionano anche quando non sei davanti allo schermo: trovi il risultato al tuo ritorno.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Artifact, file e memoria del progetto</a:t>
            </a:r>
            <a:endParaRPr lang="en-US" sz="3600" dirty="0"/>
          </a:p>
        </p:txBody>
      </p:sp>
      <p:sp>
        <p:nvSpPr>
          <p:cNvPr id="3" name="scheda-252"/>
          <p:cNvSpPr/>
          <p:nvPr/>
        </p:nvSpPr>
        <p:spPr>
          <a:xfrm>
            <a:off x="548640" y="146304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4" name="cerchio-253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a-25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sto-255"/>
          <p:cNvSpPr txBox="1"/>
          <p:nvPr/>
        </p:nvSpPr>
        <p:spPr>
          <a:xfrm>
            <a:off x="868680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Artifact</a:t>
            </a:r>
            <a:endParaRPr lang="en-US" sz="2000" dirty="0"/>
          </a:p>
        </p:txBody>
      </p:sp>
      <p:sp>
        <p:nvSpPr>
          <p:cNvPr id="7" name="testo-256"/>
          <p:cNvSpPr txBox="1"/>
          <p:nvPr/>
        </p:nvSpPr>
        <p:spPr>
          <a:xfrm>
            <a:off x="868680" y="3657600"/>
            <a:ext cx="28751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Pagine web private su claude.ai: dashboard, mini-app, report. Le condividi con un link.</a:t>
            </a:r>
            <a:endParaRPr lang="en-US" sz="1600" dirty="0"/>
          </a:p>
        </p:txBody>
      </p:sp>
      <p:sp>
        <p:nvSpPr>
          <p:cNvPr id="8" name="scheda-257"/>
          <p:cNvSpPr/>
          <p:nvPr/>
        </p:nvSpPr>
        <p:spPr>
          <a:xfrm>
            <a:off x="4338218" y="146304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9" name="cerchio-258"/>
          <p:cNvSpPr/>
          <p:nvPr/>
        </p:nvSpPr>
        <p:spPr>
          <a:xfrm>
            <a:off x="4658258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a-2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1977390"/>
            <a:ext cx="388620" cy="388620"/>
          </a:xfrm>
          <a:prstGeom prst="rect">
            <a:avLst/>
          </a:prstGeom>
        </p:spPr>
      </p:pic>
      <p:sp>
        <p:nvSpPr>
          <p:cNvPr id="11" name="testo-260"/>
          <p:cNvSpPr txBox="1"/>
          <p:nvPr/>
        </p:nvSpPr>
        <p:spPr>
          <a:xfrm>
            <a:off x="4658258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File in chat</a:t>
            </a:r>
            <a:endParaRPr lang="en-US" sz="2000" dirty="0"/>
          </a:p>
        </p:txBody>
      </p:sp>
      <p:sp>
        <p:nvSpPr>
          <p:cNvPr id="12" name="testo-261"/>
          <p:cNvSpPr txBox="1"/>
          <p:nvPr/>
        </p:nvSpPr>
        <p:spPr>
          <a:xfrm>
            <a:off x="4658258" y="3657600"/>
            <a:ext cx="28751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Video, PowerPoint, Excel e immagini ti arrivano qui, pronti da scaricare.</a:t>
            </a:r>
            <a:endParaRPr lang="en-US" sz="1600" dirty="0"/>
          </a:p>
        </p:txBody>
      </p:sp>
      <p:sp>
        <p:nvSpPr>
          <p:cNvPr id="13" name="scheda-262"/>
          <p:cNvSpPr/>
          <p:nvPr/>
        </p:nvSpPr>
        <p:spPr>
          <a:xfrm>
            <a:off x="8127797" y="1463040"/>
            <a:ext cx="3515258" cy="38404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4" name="cerchio-263"/>
          <p:cNvSpPr/>
          <p:nvPr/>
        </p:nvSpPr>
        <p:spPr>
          <a:xfrm>
            <a:off x="8447837" y="17830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a-2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147" y="1977390"/>
            <a:ext cx="388620" cy="388620"/>
          </a:xfrm>
          <a:prstGeom prst="rect">
            <a:avLst/>
          </a:prstGeom>
        </p:spPr>
      </p:pic>
      <p:sp>
        <p:nvSpPr>
          <p:cNvPr id="16" name="testo-265"/>
          <p:cNvSpPr txBox="1"/>
          <p:nvPr/>
        </p:nvSpPr>
        <p:spPr>
          <a:xfrm>
            <a:off x="8447837" y="278892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CLAUDE.md</a:t>
            </a:r>
            <a:endParaRPr lang="en-US" sz="2000" dirty="0"/>
          </a:p>
        </p:txBody>
      </p:sp>
      <p:sp>
        <p:nvSpPr>
          <p:cNvPr id="17" name="testo-266"/>
          <p:cNvSpPr txBox="1"/>
          <p:nvPr/>
        </p:nvSpPr>
        <p:spPr>
          <a:xfrm>
            <a:off x="8447837" y="3657600"/>
            <a:ext cx="28751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Il quaderno delle regole del progetto: Claude lo legge ogni volta che inizia.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Comandi utili da ricordare</a:t>
            </a:r>
            <a:endParaRPr lang="en-US" sz="3600" dirty="0"/>
          </a:p>
        </p:txBody>
      </p:sp>
      <p:graphicFrame>
        <p:nvGraphicFramePr>
          <p:cNvPr id="18" name="tabella-2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Comando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 cosa serve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/help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Mostra l'aiuto e tutti i comandi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/clear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Ricomincia con una conversazione pulita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/compact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Riassume la conversazione per liberare spazio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/model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Cambia il modello di Claude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/init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 il file CLAUDE.md del progetto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/config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Apre le impostazioni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/resume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Riprende una sessione precedente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/fast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Attiva o disattiva la modalità veloce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Interrompe Claude mentre lavora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e sicurezza</a:t>
            </a:r>
            <a:endParaRPr lang="en-US" sz="3600" dirty="0"/>
          </a:p>
        </p:txBody>
      </p:sp>
      <p:sp>
        <p:nvSpPr>
          <p:cNvPr id="3" name="scheda-268"/>
          <p:cNvSpPr/>
          <p:nvPr/>
        </p:nvSpPr>
        <p:spPr>
          <a:xfrm>
            <a:off x="548640" y="1463040"/>
            <a:ext cx="2567864" cy="40233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4" name="cerchio-269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a-27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sto-271"/>
          <p:cNvSpPr txBox="1"/>
          <p:nvPr/>
        </p:nvSpPr>
        <p:spPr>
          <a:xfrm>
            <a:off x="868680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Computer temporaneo</a:t>
            </a:r>
            <a:endParaRPr lang="en-US" sz="2000" dirty="0"/>
          </a:p>
        </p:txBody>
      </p:sp>
      <p:sp>
        <p:nvSpPr>
          <p:cNvPr id="7" name="testo-272"/>
          <p:cNvSpPr txBox="1"/>
          <p:nvPr/>
        </p:nvSpPr>
        <p:spPr>
          <a:xfrm>
            <a:off x="868680" y="3657600"/>
            <a:ext cx="1927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Nel web la lavagna viene cancellata: per questo si salva tutto su GitHub.</a:t>
            </a:r>
            <a:endParaRPr lang="en-US" sz="1600" dirty="0"/>
          </a:p>
        </p:txBody>
      </p:sp>
      <p:sp>
        <p:nvSpPr>
          <p:cNvPr id="8" name="scheda-273"/>
          <p:cNvSpPr/>
          <p:nvPr/>
        </p:nvSpPr>
        <p:spPr>
          <a:xfrm>
            <a:off x="3390824" y="1463040"/>
            <a:ext cx="2567864" cy="40233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9" name="cerchio-274"/>
          <p:cNvSpPr/>
          <p:nvPr/>
        </p:nvSpPr>
        <p:spPr>
          <a:xfrm>
            <a:off x="3710864" y="17830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a-2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74" y="1977390"/>
            <a:ext cx="388620" cy="388620"/>
          </a:xfrm>
          <a:prstGeom prst="rect">
            <a:avLst/>
          </a:prstGeom>
        </p:spPr>
      </p:pic>
      <p:sp>
        <p:nvSpPr>
          <p:cNvPr id="11" name="testo-276"/>
          <p:cNvSpPr txBox="1"/>
          <p:nvPr/>
        </p:nvSpPr>
        <p:spPr>
          <a:xfrm>
            <a:off x="3710864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Solo ciò che colleghi</a:t>
            </a:r>
            <a:endParaRPr lang="en-US" sz="2000" dirty="0"/>
          </a:p>
        </p:txBody>
      </p:sp>
      <p:sp>
        <p:nvSpPr>
          <p:cNvPr id="12" name="testo-277"/>
          <p:cNvSpPr txBox="1"/>
          <p:nvPr/>
        </p:nvSpPr>
        <p:spPr>
          <a:xfrm>
            <a:off x="3710864" y="3657600"/>
            <a:ext cx="1927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Non entra nel tuo PC o telefono se non glielo permetti.</a:t>
            </a:r>
            <a:endParaRPr lang="en-US" sz="1600" dirty="0"/>
          </a:p>
        </p:txBody>
      </p:sp>
      <p:sp>
        <p:nvSpPr>
          <p:cNvPr id="13" name="scheda-278"/>
          <p:cNvSpPr/>
          <p:nvPr/>
        </p:nvSpPr>
        <p:spPr>
          <a:xfrm>
            <a:off x="6233008" y="1463040"/>
            <a:ext cx="2567864" cy="40233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4" name="cerchio-279"/>
          <p:cNvSpPr/>
          <p:nvPr/>
        </p:nvSpPr>
        <p:spPr>
          <a:xfrm>
            <a:off x="6553048" y="17830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a-28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58" y="1977390"/>
            <a:ext cx="388620" cy="388620"/>
          </a:xfrm>
          <a:prstGeom prst="rect">
            <a:avLst/>
          </a:prstGeom>
        </p:spPr>
      </p:pic>
      <p:sp>
        <p:nvSpPr>
          <p:cNvPr id="16" name="testo-281"/>
          <p:cNvSpPr txBox="1"/>
          <p:nvPr/>
        </p:nvSpPr>
        <p:spPr>
          <a:xfrm>
            <a:off x="6553048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Chiede conferma</a:t>
            </a:r>
            <a:endParaRPr lang="en-US" sz="2000" dirty="0"/>
          </a:p>
        </p:txBody>
      </p:sp>
      <p:sp>
        <p:nvSpPr>
          <p:cNvPr id="17" name="testo-282"/>
          <p:cNvSpPr txBox="1"/>
          <p:nvPr/>
        </p:nvSpPr>
        <p:spPr>
          <a:xfrm>
            <a:off x="6553048" y="3657600"/>
            <a:ext cx="1927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Prima di inviare, cancellare o pubblicare aspetta il tuo sì.</a:t>
            </a:r>
            <a:endParaRPr lang="en-US" sz="1600" dirty="0"/>
          </a:p>
        </p:txBody>
      </p:sp>
      <p:sp>
        <p:nvSpPr>
          <p:cNvPr id="18" name="scheda-283"/>
          <p:cNvSpPr/>
          <p:nvPr/>
        </p:nvSpPr>
        <p:spPr>
          <a:xfrm>
            <a:off x="9075191" y="1463040"/>
            <a:ext cx="2567864" cy="40233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9" name="cerchio-284"/>
          <p:cNvSpPr/>
          <p:nvPr/>
        </p:nvSpPr>
        <p:spPr>
          <a:xfrm>
            <a:off x="9395231" y="17830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a-2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541" y="1977390"/>
            <a:ext cx="388620" cy="388620"/>
          </a:xfrm>
          <a:prstGeom prst="rect">
            <a:avLst/>
          </a:prstGeom>
        </p:spPr>
      </p:pic>
      <p:sp>
        <p:nvSpPr>
          <p:cNvPr id="21" name="testo-286"/>
          <p:cNvSpPr txBox="1"/>
          <p:nvPr/>
        </p:nvSpPr>
        <p:spPr>
          <a:xfrm>
            <a:off x="9395231" y="27889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Può sbagliare</a:t>
            </a:r>
            <a:endParaRPr lang="en-US" sz="2000" dirty="0"/>
          </a:p>
        </p:txBody>
      </p:sp>
      <p:sp>
        <p:nvSpPr>
          <p:cNvPr id="22" name="testo-287"/>
          <p:cNvSpPr txBox="1"/>
          <p:nvPr/>
        </p:nvSpPr>
        <p:spPr>
          <a:xfrm>
            <a:off x="9395231" y="3657600"/>
            <a:ext cx="1927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Guarda sempre il risultato e chiedi le correzioni.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= parlare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= costruire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passo: scegli un'idea e chiedila a Claude Code</a:t>
            </a:r>
            <a:endParaRPr lang="en-US" sz="2200" dirty="0"/>
          </a:p>
        </p:txBody>
      </p:sp>
      <p:sp>
        <p:nvSpPr>
          <p:cNvPr id="4" name="cerchio-288"/>
          <p:cNvSpPr/>
          <p:nvPr/>
        </p:nvSpPr>
        <p:spPr>
          <a:xfrm>
            <a:off x="548640" y="914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a-28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1201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ude Code Guida">
  <a:themeElements>
    <a:clrScheme name="Claude Code Guida">
      <a:dk1>
        <a:srgbClr val="1F1E1D"/>
      </a:dk1>
      <a:lt1>
        <a:srgbClr val="FFFFFF"/>
      </a:lt1>
      <a:dk2>
        <a:srgbClr val="4A4740"/>
      </a:dk2>
      <a:lt2>
        <a:srgbClr val="F2F0EB"/>
      </a:lt2>
      <a:accent1>
        <a:srgbClr val="C96442"/>
      </a:accent1>
      <a:accent2>
        <a:srgbClr val="2A6F6B"/>
      </a:accent2>
      <a:accent3>
        <a:srgbClr val="D9A441"/>
      </a:accent3>
      <a:accent4>
        <a:srgbClr val="5B4E8C"/>
      </a:accent4>
      <a:accent5>
        <a:srgbClr val="8A8578"/>
      </a:accent5>
      <a:accent6>
        <a:srgbClr val="9E3B2A"/>
      </a:accent6>
      <a:hlink>
        <a:srgbClr val="2A6F6B"/>
      </a:hlink>
      <a:folHlink>
        <a:srgbClr val="5B4E8C"/>
      </a:folHlink>
    </a:clrScheme>
    <a:fontScheme name="Claude Code Gui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– Guida semplice</dc:title>
  <dc:subject>PptxGenJS Presentation</dc:subject>
  <dc:creator>Emilio Solimando</dc:creator>
  <cp:lastModifiedBy>Emilio Solimando</cp:lastModifiedBy>
  <cp:revision>1</cp:revision>
  <dcterms:created xsi:type="dcterms:W3CDTF">2026-10-17T15:01:30Z</dcterms:created>
  <dcterms:modified xsi:type="dcterms:W3CDTF">2026-10-17T15:01:30Z</dcterms:modified>
</cp:coreProperties>
</file>